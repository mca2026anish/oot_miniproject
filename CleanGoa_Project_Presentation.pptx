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70" r:id="rId5"/>
    <p:sldId id="273" r:id="rId6"/>
    <p:sldId id="258" r:id="rId7"/>
    <p:sldId id="260" r:id="rId8"/>
    <p:sldId id="261" r:id="rId9"/>
    <p:sldId id="262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B0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8331" autoAdjust="0"/>
  </p:normalViewPr>
  <p:slideViewPr>
    <p:cSldViewPr snapToGrid="0" snapToObjects="1">
      <p:cViewPr varScale="1">
        <p:scale>
          <a:sx n="78" d="100"/>
          <a:sy n="78" d="100"/>
        </p:scale>
        <p:origin x="71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731520"/>
            <a:ext cx="118872" cy="5303520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134662"/>
            <a:ext cx="6400800" cy="29546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E6A43F"/>
                </a:solidFill>
                <a:latin typeface="Aptos"/>
              </a:defRPr>
            </a:pPr>
            <a:r>
              <a:rPr dirty="0"/>
              <a:t>OBJECT-ORIENTED </a:t>
            </a:r>
            <a:r>
              <a:rPr lang="en-GB" dirty="0"/>
              <a:t>TECHNOLOGY</a:t>
            </a:r>
            <a:r>
              <a:rPr dirty="0"/>
              <a:t>·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036896"/>
            <a:ext cx="6858000" cy="1218795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rPr sz="7200" dirty="0" err="1">
                <a:latin typeface="Montserrat Black" pitchFamily="2" charset="0"/>
              </a:rPr>
              <a:t>CleanGoa</a:t>
            </a:r>
            <a:endParaRPr sz="7200" dirty="0">
              <a:latin typeface="Montserrat Black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3221621"/>
            <a:ext cx="6492240" cy="51090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lang="en-GB" sz="2600" dirty="0">
                <a:solidFill>
                  <a:schemeClr val="bg1"/>
                </a:solidFill>
                <a:latin typeface="Aptos"/>
              </a:rPr>
              <a:t>Together, Let’s Keep Goa Clean</a:t>
            </a:r>
            <a:endParaRPr lang="en-IN" sz="260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76745" y="3174759"/>
            <a:ext cx="5074920" cy="45719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19404" y="507959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endParaRPr lang="en-GB" sz="1600" dirty="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2050" name="Picture 2" descr="C:\Users\admin\Desktop\3aa4058f11ac6c5f76041258f5b3f88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863" y="0"/>
            <a:ext cx="58161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1119404" y="4703633"/>
            <a:ext cx="29290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Aptos"/>
              </a:rPr>
              <a:t>Anish</a:t>
            </a:r>
            <a:r>
              <a:rPr lang="en-GB" sz="1600" dirty="0">
                <a:solidFill>
                  <a:schemeClr val="bg1"/>
                </a:solidFill>
                <a:latin typeface="Aptos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Aptos"/>
              </a:rPr>
              <a:t>Rohidas</a:t>
            </a:r>
            <a:r>
              <a:rPr lang="en-GB" sz="1600" dirty="0">
                <a:solidFill>
                  <a:schemeClr val="bg1"/>
                </a:solidFill>
                <a:latin typeface="Aptos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Aptos"/>
              </a:rPr>
              <a:t>Naik</a:t>
            </a:r>
            <a:r>
              <a:rPr lang="en-GB" sz="1600" dirty="0">
                <a:solidFill>
                  <a:schemeClr val="bg1"/>
                </a:solidFill>
                <a:latin typeface="Aptos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Aptos"/>
              </a:rPr>
              <a:t>Mamlekar</a:t>
            </a:r>
            <a:endParaRPr lang="en-IN" sz="160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97280" y="5148842"/>
            <a:ext cx="3044295" cy="416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600" dirty="0" err="1">
                <a:solidFill>
                  <a:schemeClr val="bg1"/>
                </a:solidFill>
                <a:latin typeface="Aptos"/>
              </a:rPr>
              <a:t>Atharv</a:t>
            </a:r>
            <a:r>
              <a:rPr lang="en-GB" sz="1600" dirty="0">
                <a:solidFill>
                  <a:schemeClr val="bg1"/>
                </a:solidFill>
                <a:latin typeface="Aptos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Aptos"/>
              </a:rPr>
              <a:t>Yeshwant</a:t>
            </a:r>
            <a:r>
              <a:rPr lang="en-GB" sz="1600" dirty="0">
                <a:solidFill>
                  <a:schemeClr val="bg1"/>
                </a:solidFill>
                <a:latin typeface="Aptos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Aptos"/>
              </a:rPr>
              <a:t>Naik</a:t>
            </a:r>
            <a:r>
              <a:rPr lang="en-GB" sz="1600" dirty="0">
                <a:solidFill>
                  <a:schemeClr val="bg1"/>
                </a:solidFill>
                <a:latin typeface="Aptos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Aptos"/>
              </a:rPr>
              <a:t>Rasaikar</a:t>
            </a:r>
            <a:endParaRPr lang="en-IN" sz="1600" dirty="0">
              <a:solidFill>
                <a:schemeClr val="bg1"/>
              </a:solidFill>
              <a:latin typeface="Aptos"/>
              <a:ea typeface="Calibri"/>
              <a:cs typeface="Times New Roman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4091" y="4632390"/>
            <a:ext cx="1164100" cy="416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GB" sz="1600" dirty="0">
                <a:solidFill>
                  <a:schemeClr val="bg1"/>
                </a:solidFill>
                <a:latin typeface="Aptos"/>
              </a:rPr>
              <a:t>MCA-2609</a:t>
            </a:r>
            <a:endParaRPr lang="en-IN" sz="1600" dirty="0">
              <a:solidFill>
                <a:schemeClr val="bg1"/>
              </a:solidFill>
              <a:latin typeface="Aptos"/>
              <a:ea typeface="Calibri"/>
              <a:cs typeface="Times New Roman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04090" y="5148842"/>
            <a:ext cx="1164100" cy="416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GB" sz="1600" dirty="0">
                <a:solidFill>
                  <a:schemeClr val="bg1"/>
                </a:solidFill>
                <a:latin typeface="Aptos"/>
              </a:rPr>
              <a:t>MCA-2612</a:t>
            </a:r>
            <a:endParaRPr lang="en-IN" sz="1600" dirty="0">
              <a:solidFill>
                <a:schemeClr val="bg1"/>
              </a:solidFill>
              <a:latin typeface="Aptos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63A"/>
                </a:solidFill>
                <a:latin typeface="Aptos"/>
              </a:defRPr>
            </a:pPr>
            <a:r>
              <a:rPr lang="en-GB" dirty="0"/>
              <a:t>INTRODUCTION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87680"/>
                </a:solidFill>
                <a:latin typeface="Aptos"/>
              </a:defRPr>
            </a:pPr>
            <a:r>
              <a:t>A website that helps people report cleanliness issues and take part in community cleaning activities.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40080" cy="50292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3927764"/>
            <a:ext cx="3429000" cy="1575262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3927764"/>
            <a:ext cx="82296" cy="1575262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4092356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Report an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531268"/>
            <a:ext cx="3044952" cy="1527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rPr dirty="0"/>
              <a:t>Citizens upload a photograph, describe the problem and provide its location.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27764"/>
            <a:ext cx="3429000" cy="1575262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3927764"/>
            <a:ext cx="82296" cy="1575262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4092356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Review and manage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531268"/>
            <a:ext cx="3044952" cy="1527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rPr dirty="0"/>
              <a:t>Administrators review reports and organize volunteer 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927764"/>
            <a:ext cx="3319272" cy="1575262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3927764"/>
            <a:ext cx="82296" cy="1575262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4092356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See public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4531268"/>
            <a:ext cx="3044952" cy="1527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Approved reports appear on a public map with their current 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" y="5839690"/>
            <a:ext cx="1042416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4263A"/>
                </a:solidFill>
                <a:latin typeface="Aptos"/>
              </a:defRPr>
            </a:pPr>
            <a:r>
              <a:rPr dirty="0"/>
              <a:t>Main goal: make cleanliness problems easier to report, review and track.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177765"/>
            <a:ext cx="104790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Aptos"/>
              </a:rPr>
              <a:t>CleanGoa is a platform developed to improve cleanliness and protect the environment in Goa by connecting citizens, volunteers, and local administrators. The main aim of this project is to provide a simple and effective way for people to report cleanliness issues and participate in activities that help maintain clean and healthy surroundings.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63A"/>
                </a:solidFill>
                <a:latin typeface="Aptos"/>
              </a:defRPr>
            </a:pPr>
            <a:r>
              <a:t>Competitor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11996"/>
            <a:ext cx="640080" cy="45720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0100" y="5399116"/>
            <a:ext cx="10652760" cy="114300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8700" y="5609428"/>
            <a:ext cx="10149840" cy="7315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4263A"/>
                </a:solidFill>
                <a:latin typeface="Aptos"/>
              </a:defRPr>
            </a:pPr>
            <a:r>
              <a:t>CleanGoa's proposed distinction: combine cleanliness reporting, administrator review, an approved-issue public map and volunteer mission registration in one Goa-focused website.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477470"/>
              </p:ext>
            </p:extLst>
          </p:nvPr>
        </p:nvGraphicFramePr>
        <p:xfrm>
          <a:off x="800100" y="1384684"/>
          <a:ext cx="1064652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7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6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9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u="sng" dirty="0">
                          <a:latin typeface="Aptos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u="sng" dirty="0" err="1">
                          <a:latin typeface="Aptos"/>
                        </a:rPr>
                        <a:t>Swachhata-MoHUA</a:t>
                      </a:r>
                      <a:endParaRPr lang="en-IN" sz="1400" u="sng" dirty="0"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u="sng" dirty="0">
                          <a:latin typeface="Aptos"/>
                        </a:rPr>
                        <a:t>Goa Public Grievances / CM Helpline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u="sng" dirty="0" err="1">
                          <a:latin typeface="Aptos"/>
                        </a:rPr>
                        <a:t>CleanUp</a:t>
                      </a:r>
                      <a:r>
                        <a:rPr lang="en-IN" sz="1400" u="sng" dirty="0">
                          <a:latin typeface="Aptos"/>
                        </a:rPr>
                        <a:t> India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u="sng" dirty="0">
                          <a:latin typeface="Aptos"/>
                        </a:rPr>
                        <a:t>CleanGoa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Report cleanliness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ptos"/>
                        </a:rPr>
                        <a:t>General grievances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ptos"/>
                        </a:rPr>
                        <a:t>Not its main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Upload photos and 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Depends on grievance 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ptos"/>
                        </a:rPr>
                        <a:t>Not its main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ptos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ptos"/>
                        </a:rPr>
                        <a:t>Organize volunteer </a:t>
                      </a:r>
                      <a:r>
                        <a:rPr lang="en-IN" sz="1400" dirty="0" err="1">
                          <a:latin typeface="Aptos"/>
                        </a:rPr>
                        <a:t>cleanup</a:t>
                      </a:r>
                      <a:r>
                        <a:rPr lang="en-IN" sz="1400" dirty="0">
                          <a:latin typeface="Aptos"/>
                        </a:rPr>
                        <a:t> drives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Not its main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Not its main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ptos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ptos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Register for volunteer missions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Not its main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Not its main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ptos"/>
                        </a:rPr>
                        <a:t>Yes, through volunteer communities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latin typeface="Aptos"/>
                        </a:rPr>
                        <a:t>Reporting and volunteering in one website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Not its main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Not its main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Focuses on cleanup communities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Core proposed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Goa-focused cleanliness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No, broader urban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ptos"/>
                        </a:rPr>
                        <a:t>Goa-focused grievance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latin typeface="Aptos"/>
                        </a:rPr>
                        <a:t>Supports cleanup communities across India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ptos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972800" cy="51398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63A"/>
                </a:solidFill>
                <a:latin typeface="Aptos"/>
              </a:defRPr>
            </a:pPr>
            <a:r>
              <a:rPr dirty="0"/>
              <a:t>Market </a:t>
            </a:r>
            <a:r>
              <a:rPr lang="en-GB" dirty="0"/>
              <a:t>Analysis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21792" y="1108347"/>
            <a:ext cx="640080" cy="45720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61219" y="4804753"/>
            <a:ext cx="3383280" cy="1363287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1219" y="4804753"/>
            <a:ext cx="73152" cy="1363287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4099" y="4941913"/>
            <a:ext cx="306324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rPr dirty="0"/>
              <a:t>Easy issue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099" y="5335105"/>
            <a:ext cx="3035808" cy="189280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A3742"/>
                </a:solidFill>
                <a:latin typeface="Aptos"/>
              </a:defRPr>
            </a:pPr>
            <a:r>
              <a:t>Users can submit a photo, description and location instead of relying only on informal messages.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8819" y="4804753"/>
            <a:ext cx="3383280" cy="1363287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18819" y="4804753"/>
            <a:ext cx="73152" cy="1363287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01699" y="4941913"/>
            <a:ext cx="306324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t>Status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1699" y="5335105"/>
            <a:ext cx="3035808" cy="189280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A3742"/>
                </a:solidFill>
                <a:latin typeface="Aptos"/>
              </a:defRPr>
            </a:pPr>
            <a:r>
              <a:t>A public map can help people view approved reports and understand their current status.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6419" y="4804753"/>
            <a:ext cx="3246120" cy="1363287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76419" y="4804753"/>
            <a:ext cx="73152" cy="1363287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9299" y="4941913"/>
            <a:ext cx="306324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t>Volunteer coordination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9299" y="5335105"/>
            <a:ext cx="3035808" cy="189280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A3742"/>
                </a:solidFill>
                <a:latin typeface="Aptos"/>
              </a:defRPr>
            </a:pPr>
            <a:r>
              <a:t>Mission details and registration can help interested people join organized cleanup activities.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1219" y="1869118"/>
            <a:ext cx="10515600" cy="59436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9819" y="1978847"/>
            <a:ext cx="297180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63A"/>
                </a:solidFill>
                <a:latin typeface="Aptos"/>
              </a:defRPr>
            </a:pPr>
            <a:r>
              <a:t>Citizens and residents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07339" y="1978847"/>
            <a:ext cx="676656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A3742"/>
                </a:solidFill>
                <a:latin typeface="Aptos"/>
              </a:defRPr>
            </a:pPr>
            <a:r>
              <a:t>Submit reports and track their status.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1219" y="2562399"/>
            <a:ext cx="10515600" cy="59436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9819" y="2672127"/>
            <a:ext cx="297180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63A"/>
                </a:solidFill>
                <a:latin typeface="Aptos"/>
              </a:defRPr>
            </a:pPr>
            <a:r>
              <a:t>Volunteers and students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07339" y="2672127"/>
            <a:ext cx="676656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A3742"/>
                </a:solidFill>
                <a:latin typeface="Aptos"/>
              </a:defRPr>
            </a:pPr>
            <a:r>
              <a:t>Register for missions and participate in drives.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1219" y="3312208"/>
            <a:ext cx="10515600" cy="59436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9819" y="3421936"/>
            <a:ext cx="297180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63A"/>
                </a:solidFill>
                <a:latin typeface="Aptos"/>
              </a:defRPr>
            </a:pPr>
            <a:r>
              <a:t>NGOs and community groups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7339" y="3421936"/>
            <a:ext cx="676656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A3742"/>
                </a:solidFill>
                <a:latin typeface="Aptos"/>
              </a:defRPr>
            </a:pPr>
            <a:r>
              <a:t>Help coordinate local cleanup activities.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1219" y="4062016"/>
            <a:ext cx="10515600" cy="59436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9819" y="4171744"/>
            <a:ext cx="297180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63A"/>
                </a:solidFill>
                <a:latin typeface="Aptos"/>
              </a:defRPr>
            </a:pPr>
            <a:r>
              <a:t>Tourism-related businesses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07339" y="4171744"/>
            <a:ext cx="676656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A3742"/>
                </a:solidFill>
                <a:latin typeface="Aptos"/>
              </a:defRPr>
            </a:pPr>
            <a:r>
              <a:t>May support cleaner public and visitor areas.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1219" y="1321965"/>
            <a:ext cx="23374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63A"/>
                </a:solidFill>
                <a:latin typeface="Aptos"/>
              </a:defRPr>
            </a:pPr>
            <a:r>
              <a:rPr lang="en-IN" sz="2000" dirty="0"/>
              <a:t>Key Stakeholders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63A"/>
                </a:solidFill>
                <a:latin typeface="Aptos"/>
              </a:defRPr>
            </a:pPr>
            <a:r>
              <a:t>Proposed Revenue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87057"/>
            <a:ext cx="640080" cy="45720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892377"/>
              </p:ext>
            </p:extLst>
          </p:nvPr>
        </p:nvGraphicFramePr>
        <p:xfrm>
          <a:off x="814647" y="1655462"/>
          <a:ext cx="10582102" cy="3608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1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8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2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873">
                <a:tc>
                  <a:txBody>
                    <a:bodyPr/>
                    <a:lstStyle/>
                    <a:p>
                      <a:pPr algn="ctr"/>
                      <a:r>
                        <a:rPr lang="en-IN" sz="1800" u="sng" dirty="0">
                          <a:latin typeface="Aptos"/>
                        </a:rPr>
                        <a:t>Revenue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u="sng" dirty="0">
                          <a:latin typeface="Aptos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u="sng" dirty="0">
                          <a:latin typeface="Aptos"/>
                        </a:rPr>
                        <a:t>Revenue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ptos"/>
                        </a:rPr>
                        <a:t>CSR project funding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Aptos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Aptos"/>
                        </a:rPr>
                        <a:t>Funding for eligible environmental 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Aptos"/>
                        </a:rPr>
                        <a:t>Government service contracts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Aptos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Aptos"/>
                        </a:rPr>
                        <a:t>Contract income for agreed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Aptos"/>
                        </a:rPr>
                        <a:t>Grants and NGO partnerships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Aptos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ptos"/>
                        </a:rPr>
                        <a:t>Project-based funding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Aptos"/>
                        </a:rPr>
                        <a:t>Local business sponsorships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Aptos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ptos"/>
                        </a:rPr>
                        <a:t>Campaign or event sponsorship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ptos"/>
                        </a:rPr>
                        <a:t>Advertising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latin typeface="Aptos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Aptos"/>
                        </a:rPr>
                        <a:t>Sponsored advertisements from eco-friendly businesses, hotels, and tourism operators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800100" y="5399116"/>
            <a:ext cx="10652760" cy="114300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8700" y="5609428"/>
            <a:ext cx="10149840" cy="57554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4263A"/>
                </a:solidFill>
                <a:latin typeface="Aptos"/>
              </a:defRPr>
            </a:pPr>
            <a:r>
              <a:rPr lang="en-GB" sz="1600" b="1" dirty="0" err="1"/>
              <a:t>CleanGoa</a:t>
            </a:r>
            <a:r>
              <a:rPr lang="en-GB" sz="1600" b="1" dirty="0"/>
              <a:t> can generate revenue through CSR funding, government contracts, sponsorships, and advertisements while keeping citizen reporting and volunteer participation free.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5886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63A"/>
                </a:solidFill>
                <a:latin typeface="Aptos"/>
              </a:defRPr>
            </a:pPr>
            <a:r>
              <a:t>Three main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036181"/>
            <a:ext cx="640080" cy="50292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242752"/>
            <a:ext cx="3429000" cy="1982586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242752"/>
            <a:ext cx="82296" cy="1982586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407344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1. User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846256"/>
            <a:ext cx="3044952" cy="22128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• Report garbage and other cleanliness issues</a:t>
            </a:r>
          </a:p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• View reports on a map</a:t>
            </a:r>
          </a:p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• Join cleanliness drives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42752"/>
            <a:ext cx="3429000" cy="1982586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242752"/>
            <a:ext cx="82296" cy="1982586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407344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2. Admin section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846256"/>
            <a:ext cx="3044952" cy="22128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• Review submitted reports</a:t>
            </a:r>
          </a:p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• Approve or reject reports</a:t>
            </a:r>
          </a:p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• Organize volunteer missions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242752"/>
            <a:ext cx="3429000" cy="1982586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242752"/>
            <a:ext cx="82296" cy="1982586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407344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3. Public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846256"/>
            <a:ext cx="3044952" cy="22128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• Display approved cleanliness issues</a:t>
            </a:r>
          </a:p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• Show their current status</a:t>
            </a:r>
          </a:p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• Help users understand local issues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3678437"/>
            <a:ext cx="4129657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63A"/>
                </a:solidFill>
                <a:latin typeface="Aptos"/>
              </a:defRPr>
            </a:pPr>
            <a:r>
              <a:rPr lang="en-GB" dirty="0"/>
              <a:t>What each role can 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" y="4166754"/>
            <a:ext cx="640080" cy="50292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6" y="4393277"/>
            <a:ext cx="5166360" cy="2049087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8096" y="4393277"/>
            <a:ext cx="118872" cy="2049087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" y="4557869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263A"/>
                </a:solidFill>
                <a:latin typeface="Aptos"/>
              </a:defRPr>
            </a:pPr>
            <a:r>
              <a:t>Citizen /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4996781"/>
            <a:ext cx="4782312" cy="127522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marL="285750" indent="-285750">
              <a:spcAft>
                <a:spcPts val="700"/>
              </a:spcAft>
              <a:buFont typeface="Arial" pitchFamily="34" charset="0"/>
              <a:buChar char="•"/>
              <a:defRPr sz="1600" b="0">
                <a:solidFill>
                  <a:srgbClr val="2A3742"/>
                </a:solidFill>
                <a:latin typeface="Aptos"/>
              </a:defRPr>
            </a:pPr>
            <a:r>
              <a:rPr dirty="0"/>
              <a:t>Report a cleanliness issue with a photo, description and location.</a:t>
            </a:r>
          </a:p>
          <a:p>
            <a:pPr marL="285750" indent="-285750">
              <a:spcAft>
                <a:spcPts val="700"/>
              </a:spcAft>
              <a:buFont typeface="Arial" pitchFamily="34" charset="0"/>
              <a:buChar char="•"/>
              <a:defRPr sz="1600" b="0">
                <a:solidFill>
                  <a:srgbClr val="2A3742"/>
                </a:solidFill>
                <a:latin typeface="Aptos"/>
              </a:defRPr>
            </a:pPr>
            <a:r>
              <a:rPr dirty="0"/>
              <a:t>Check approved reports on the public map.</a:t>
            </a:r>
          </a:p>
          <a:p>
            <a:pPr marL="285750" indent="-285750">
              <a:spcAft>
                <a:spcPts val="700"/>
              </a:spcAft>
              <a:buFont typeface="Arial" pitchFamily="34" charset="0"/>
              <a:buChar char="•"/>
              <a:defRPr sz="1600" b="0">
                <a:solidFill>
                  <a:srgbClr val="2A3742"/>
                </a:solidFill>
                <a:latin typeface="Aptos"/>
              </a:defRPr>
            </a:pPr>
            <a:r>
              <a:rPr dirty="0"/>
              <a:t>Register for a volunteer mission and participate.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0216" y="4393277"/>
            <a:ext cx="5166360" cy="2049087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0216" y="4393277"/>
            <a:ext cx="82296" cy="2049087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01383" y="4557869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263A"/>
                </a:solidFill>
                <a:latin typeface="Aptos"/>
              </a:defRPr>
            </a:pPr>
            <a:r>
              <a:t>Administrator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1383" y="4996781"/>
            <a:ext cx="4782312" cy="127522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marL="285750" indent="-285750">
              <a:spcAft>
                <a:spcPts val="700"/>
              </a:spcAft>
              <a:buFont typeface="Arial" pitchFamily="34" charset="0"/>
              <a:buChar char="•"/>
              <a:defRPr sz="1600" b="0">
                <a:solidFill>
                  <a:srgbClr val="2A3742"/>
                </a:solidFill>
                <a:latin typeface="Aptos"/>
              </a:defRPr>
            </a:pPr>
            <a:r>
              <a:rPr dirty="0"/>
              <a:t>Review submitted reports.</a:t>
            </a:r>
          </a:p>
          <a:p>
            <a:pPr marL="285750" indent="-285750">
              <a:spcAft>
                <a:spcPts val="700"/>
              </a:spcAft>
              <a:buFont typeface="Arial" pitchFamily="34" charset="0"/>
              <a:buChar char="•"/>
              <a:defRPr sz="1600" b="0">
                <a:solidFill>
                  <a:srgbClr val="2A3742"/>
                </a:solidFill>
                <a:latin typeface="Aptos"/>
              </a:defRPr>
            </a:pPr>
            <a:r>
              <a:rPr dirty="0"/>
              <a:t>Approve or reject a report.</a:t>
            </a:r>
          </a:p>
          <a:p>
            <a:pPr marL="285750" indent="-285750">
              <a:spcAft>
                <a:spcPts val="700"/>
              </a:spcAft>
              <a:buFont typeface="Arial" pitchFamily="34" charset="0"/>
              <a:buChar char="•"/>
              <a:defRPr sz="1600" b="0">
                <a:solidFill>
                  <a:srgbClr val="2A3742"/>
                </a:solidFill>
                <a:latin typeface="Aptos"/>
              </a:defRPr>
            </a:pPr>
            <a:r>
              <a:rPr dirty="0"/>
              <a:t>Organize a cleanliness mission and provide its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63A"/>
                </a:solidFill>
                <a:latin typeface="Aptos"/>
              </a:defRPr>
            </a:pPr>
            <a:r>
              <a:t>How a user reports an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87680"/>
                </a:solidFill>
                <a:latin typeface="Aptos"/>
              </a:defRPr>
            </a:pPr>
            <a:r>
              <a:t>Example: a user visits a place in Goa and finds garbage scattered around.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40080" cy="50292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2313432"/>
            <a:ext cx="3429000" cy="132588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392" y="2496312"/>
            <a:ext cx="502920" cy="502920"/>
          </a:xfrm>
          <a:prstGeom prst="ellipse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569464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478024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t>Log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834640"/>
            <a:ext cx="2395728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742"/>
                </a:solidFill>
                <a:latin typeface="Aptos"/>
              </a:defRPr>
            </a:pPr>
            <a:r>
              <a:t>The user signs in to CleanGoa.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313432"/>
            <a:ext cx="3429000" cy="132588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45152" y="2496312"/>
            <a:ext cx="502920" cy="502920"/>
          </a:xfrm>
          <a:prstGeom prst="ellipse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2569464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2478024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t>Add a photo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2834640"/>
            <a:ext cx="2395728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742"/>
                </a:solidFill>
                <a:latin typeface="Aptos"/>
              </a:defRPr>
            </a:pPr>
            <a:r>
              <a:t>The user photographs the garbage.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2313432"/>
            <a:ext cx="3429000" cy="132588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39912" y="2496312"/>
            <a:ext cx="502920" cy="502920"/>
          </a:xfrm>
          <a:prstGeom prst="ellipse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9912" y="2569464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2478024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t>Describe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834640"/>
            <a:ext cx="2395728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742"/>
                </a:solidFill>
                <a:latin typeface="Aptos"/>
              </a:defRPr>
            </a:pPr>
            <a:r>
              <a:t>The user enters a short description.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59352"/>
            <a:ext cx="3429000" cy="132588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392" y="4142232"/>
            <a:ext cx="502920" cy="502920"/>
          </a:xfrm>
          <a:prstGeom prst="ellipse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4215384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4123943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t>Add 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0472" y="4480560"/>
            <a:ext cx="2395728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742"/>
                </a:solidFill>
                <a:latin typeface="Aptos"/>
              </a:defRPr>
            </a:pPr>
            <a:r>
              <a:t>Select a point on the map or enter the location manually.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959352"/>
            <a:ext cx="3429000" cy="132588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645152" y="4142232"/>
            <a:ext cx="502920" cy="502920"/>
          </a:xfrm>
          <a:prstGeom prst="ellipse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45152" y="4215384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2" y="4123943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2" y="4480560"/>
            <a:ext cx="2395728" cy="6217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742"/>
                </a:solidFill>
                <a:latin typeface="Aptos"/>
              </a:defRPr>
            </a:pPr>
            <a:r>
              <a:t>The report is sent for administrator review.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687680"/>
                </a:solidFill>
                <a:latin typeface="Aptos"/>
              </a:defRPr>
            </a:pPr>
            <a:r>
              <a:t>The report contains the information needed for the administrator to review the issue.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63A"/>
                </a:solidFill>
                <a:latin typeface="Aptos"/>
              </a:defRPr>
            </a:pPr>
            <a:r>
              <a:t>Reviewing a cleanliness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87680"/>
                </a:solidFill>
                <a:latin typeface="Aptos"/>
              </a:defRPr>
            </a:pPr>
            <a:r>
              <a:rPr dirty="0"/>
              <a:t>Reports are checked before they are displayed on the public 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40080" cy="50292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489662"/>
            <a:ext cx="3246120" cy="1433945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489662"/>
            <a:ext cx="82296" cy="1433945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654254"/>
            <a:ext cx="288036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Submitted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093166"/>
            <a:ext cx="2862072" cy="14813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The user sends a report with a photo, description and location.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489662"/>
            <a:ext cx="3246120" cy="1433945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2489662"/>
            <a:ext cx="82296" cy="1433945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2654254"/>
            <a:ext cx="288036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Under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093166"/>
            <a:ext cx="2862072" cy="14813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The administrator checks the submitted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489662"/>
            <a:ext cx="3246120" cy="1433945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489662"/>
            <a:ext cx="82296" cy="1433945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0768" y="2654254"/>
            <a:ext cx="288036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093166"/>
            <a:ext cx="2862072" cy="14813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The administrator approves or rejects the report.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767349"/>
            <a:ext cx="10945368" cy="7237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88F8B"/>
                </a:solidFill>
                <a:latin typeface="Aptos"/>
              </a:defRPr>
            </a:pPr>
            <a:r>
              <a:rPr dirty="0"/>
              <a:t>Approved report</a:t>
            </a:r>
          </a:p>
          <a:p>
            <a:pPr algn="ctr">
              <a:spcAft>
                <a:spcPts val="700"/>
              </a:spcAft>
              <a:defRPr sz="1700" b="1">
                <a:solidFill>
                  <a:srgbClr val="188F8B"/>
                </a:solidFill>
                <a:latin typeface="Aptos"/>
              </a:defRPr>
            </a:pPr>
            <a:r>
              <a:rPr dirty="0"/>
              <a:t>Shown on the public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63A"/>
                </a:solidFill>
                <a:latin typeface="Aptos"/>
              </a:defRPr>
            </a:pPr>
            <a:r>
              <a:t>Viewing and tracking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87680"/>
                </a:solidFill>
                <a:latin typeface="Aptos"/>
              </a:defRPr>
            </a:pPr>
            <a:r>
              <a:t>The map helps users see approved issues and follow their status.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40080" cy="50292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354580"/>
            <a:ext cx="6400800" cy="3429000"/>
          </a:xfrm>
          <a:prstGeom prst="roundRect">
            <a:avLst/>
          </a:prstGeom>
          <a:solidFill>
            <a:srgbClr val="E7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2674620"/>
            <a:ext cx="2103120" cy="118872"/>
          </a:xfrm>
          <a:prstGeom prst="rect">
            <a:avLst/>
          </a:prstGeom>
          <a:solidFill>
            <a:srgbClr val="C4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3040380"/>
            <a:ext cx="2560320" cy="118872"/>
          </a:xfrm>
          <a:prstGeom prst="rect">
            <a:avLst/>
          </a:prstGeom>
          <a:solidFill>
            <a:srgbClr val="C4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0" y="4046220"/>
            <a:ext cx="2377440" cy="118872"/>
          </a:xfrm>
          <a:prstGeom prst="rect">
            <a:avLst/>
          </a:prstGeom>
          <a:solidFill>
            <a:srgbClr val="C4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49040" y="4777740"/>
            <a:ext cx="2468880" cy="118872"/>
          </a:xfrm>
          <a:prstGeom prst="rect">
            <a:avLst/>
          </a:prstGeom>
          <a:solidFill>
            <a:srgbClr val="C4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86000" y="2811780"/>
            <a:ext cx="118872" cy="2468880"/>
          </a:xfrm>
          <a:prstGeom prst="rect">
            <a:avLst/>
          </a:prstGeom>
          <a:solidFill>
            <a:srgbClr val="C4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2537460"/>
            <a:ext cx="118872" cy="2560320"/>
          </a:xfrm>
          <a:prstGeom prst="rect">
            <a:avLst/>
          </a:prstGeom>
          <a:solidFill>
            <a:srgbClr val="C4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18488" y="3243613"/>
            <a:ext cx="292608" cy="2926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4206240" y="3589020"/>
            <a:ext cx="292608" cy="292608"/>
          </a:xfrm>
          <a:prstGeom prst="ellipse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00860" y="4777740"/>
            <a:ext cx="292608" cy="29260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669280" y="4411980"/>
            <a:ext cx="292608" cy="292608"/>
          </a:xfrm>
          <a:prstGeom prst="ellipse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11440" y="2830068"/>
            <a:ext cx="3840480" cy="123444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11440" y="2830068"/>
            <a:ext cx="82296" cy="1234440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12608" y="2994660"/>
            <a:ext cx="347472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63A"/>
                </a:solidFill>
                <a:latin typeface="Aptos"/>
              </a:defRPr>
            </a:pPr>
            <a:r>
              <a:t>Approved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2608" y="3433572"/>
            <a:ext cx="3456432" cy="5212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742"/>
                </a:solidFill>
                <a:latin typeface="Aptos"/>
              </a:defRPr>
            </a:pPr>
            <a:r>
              <a:t>Visible on the public map.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11440" y="4293108"/>
            <a:ext cx="3840480" cy="123444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11440" y="4293108"/>
            <a:ext cx="82296" cy="1234440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12608" y="4457700"/>
            <a:ext cx="347472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63A"/>
                </a:solidFill>
                <a:latin typeface="Aptos"/>
              </a:defRPr>
            </a:pPr>
            <a:r>
              <a:t>Current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2608" y="4896612"/>
            <a:ext cx="3456432" cy="5212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742"/>
                </a:solidFill>
                <a:latin typeface="Aptos"/>
              </a:defRPr>
            </a:pPr>
            <a:r>
              <a:t>Users can track the status of their reports.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63A"/>
                </a:solidFill>
                <a:latin typeface="Aptos"/>
              </a:defRPr>
            </a:pPr>
            <a:r>
              <a:t>Organizing a cleanliness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87680"/>
                </a:solidFill>
                <a:latin typeface="Aptos"/>
              </a:defRPr>
            </a:pPr>
            <a:r>
              <a:t>Administrators can organize missions for volunteers to join.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40080" cy="50292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3" y="2450592"/>
            <a:ext cx="3337560" cy="1512916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3" y="2450592"/>
            <a:ext cx="82296" cy="1512916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1" y="261518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1. Create a 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1" y="3054096"/>
            <a:ext cx="2953512" cy="207568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Example: a Sunday morning beach-cleaning drive at Baga Beach.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3" y="2450592"/>
            <a:ext cx="3337560" cy="1512916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16553" y="2450592"/>
            <a:ext cx="82296" cy="1512916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261518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2. Share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54096"/>
            <a:ext cx="2953512" cy="207568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Users can view the mission details before registering.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3" y="2450592"/>
            <a:ext cx="3337560" cy="1512916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3" y="2450592"/>
            <a:ext cx="82296" cy="1512916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1" y="261518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3. Participate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1" y="3054096"/>
            <a:ext cx="2953512" cy="207568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742"/>
                </a:solidFill>
                <a:latin typeface="Aptos"/>
              </a:defRPr>
            </a:pPr>
            <a:r>
              <a:t>Users register for the mission and take part in the drive.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1" y="4714147"/>
            <a:ext cx="102412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4263A"/>
                </a:solidFill>
                <a:latin typeface="Aptos"/>
              </a:defRPr>
            </a:pPr>
            <a:r>
              <a:t>The mission module connects people who want to help keep Goa clean.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63A"/>
                </a:solidFill>
                <a:latin typeface="Aptos"/>
              </a:defRPr>
            </a:pPr>
            <a:r>
              <a:t>Two connected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87680"/>
                </a:solidFill>
                <a:latin typeface="Aptos"/>
              </a:defRPr>
            </a:pPr>
            <a:r>
              <a:t>CleanGoa brings cleanliness reporting and volunteer mission management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640080" cy="50292"/>
          </a:xfrm>
          <a:prstGeom prst="rect">
            <a:avLst/>
          </a:prstGeom>
          <a:solidFill>
            <a:srgbClr val="E6A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2240280" cy="141732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971800"/>
            <a:ext cx="201168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t>Citizen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01568"/>
            <a:ext cx="2011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A3742"/>
                </a:solidFill>
                <a:latin typeface="Aptos"/>
              </a:defRPr>
            </a:pPr>
            <a:r>
              <a:t>Reports an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3182112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88F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743200"/>
            <a:ext cx="2240280" cy="141732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0168" y="2971800"/>
            <a:ext cx="201168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t>Administrator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401568"/>
            <a:ext cx="2011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A3742"/>
                </a:solidFill>
                <a:latin typeface="Aptos"/>
              </a:defRPr>
            </a:pPr>
            <a:r>
              <a:t>Reviews the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182112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88F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743200"/>
            <a:ext cx="2240280" cy="141732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8" y="2971800"/>
            <a:ext cx="201168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t>Public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401568"/>
            <a:ext cx="2011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A3742"/>
                </a:solidFill>
                <a:latin typeface="Aptos"/>
              </a:defRPr>
            </a:pPr>
            <a:r>
              <a:t>Shows approved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3182112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88F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743200"/>
            <a:ext cx="2240280" cy="1417320"/>
          </a:xfrm>
          <a:prstGeom prst="round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8" y="2971800"/>
            <a:ext cx="201168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4263A"/>
                </a:solidFill>
                <a:latin typeface="Aptos"/>
              </a:defRPr>
            </a:pPr>
            <a:r>
              <a:t>Volunteers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401568"/>
            <a:ext cx="20116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A3742"/>
                </a:solidFill>
                <a:latin typeface="Aptos"/>
              </a:defRPr>
            </a:pPr>
            <a:r>
              <a:t>Join a 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10332720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687680"/>
                </a:solidFill>
                <a:latin typeface="Aptos"/>
              </a:defRPr>
            </a:pPr>
            <a:r>
              <a:rPr dirty="0"/>
              <a:t>Reporting makes an issue visible for review. Volunteer missions provide a way for people to take part in cleanliness activities.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6A43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9875520" cy="685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 cleaner Goa,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9692640" cy="10972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DCE7EB"/>
                </a:solidFill>
                <a:latin typeface="Aptos"/>
              </a:defRPr>
            </a:pPr>
            <a:r>
              <a:rPr dirty="0" err="1"/>
              <a:t>CleanGoa</a:t>
            </a:r>
            <a:r>
              <a:rPr dirty="0"/>
              <a:t> connects citizens, administrators and volunteers through a simple process for reporting cleanliness issues, reviewing reports, viewing approved issues on a map and joining cleanliness drives.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749039"/>
            <a:ext cx="731520" cy="54864"/>
          </a:xfrm>
          <a:prstGeom prst="rect">
            <a:avLst/>
          </a:prstGeom>
          <a:solidFill>
            <a:srgbClr val="18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4335087"/>
            <a:ext cx="12192000" cy="9417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54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920</Words>
  <Application>Microsoft Office PowerPoint</Application>
  <PresentationFormat>Widescreen</PresentationFormat>
  <Paragraphs>173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Anish Naik Mamlekar</cp:lastModifiedBy>
  <cp:revision>15</cp:revision>
  <dcterms:created xsi:type="dcterms:W3CDTF">2013-01-27T09:14:16Z</dcterms:created>
  <dcterms:modified xsi:type="dcterms:W3CDTF">2026-10-26T05:14:39Z</dcterms:modified>
  <cp:category/>
</cp:coreProperties>
</file>